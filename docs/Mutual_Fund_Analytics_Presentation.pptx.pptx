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Aileron Bold" charset="1" panose="00000800000000000000"/>
      <p:regular r:id="rId23"/>
    </p:embeddedFont>
    <p:embeddedFont>
      <p:font typeface="Montserrat" charset="1" panose="00000500000000000000"/>
      <p:regular r:id="rId24"/>
    </p:embeddedFont>
    <p:embeddedFont>
      <p:font typeface="Cardo Bold" charset="1" panose="020208040800000200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9144000" y="1355173"/>
            <a:ext cx="10042068" cy="6664282"/>
          </a:xfrm>
          <a:custGeom>
            <a:avLst/>
            <a:gdLst/>
            <a:ahLst/>
            <a:cxnLst/>
            <a:rect r="r" b="b" t="t" l="l"/>
            <a:pathLst>
              <a:path h="6664282" w="10042068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4145" y="0"/>
            <a:ext cx="20409103" cy="1443068"/>
          </a:xfrm>
          <a:custGeom>
            <a:avLst/>
            <a:gdLst/>
            <a:ahLst/>
            <a:cxnLst/>
            <a:rect r="r" b="b" t="t" l="l"/>
            <a:pathLst>
              <a:path h="1443068" w="20409103">
                <a:moveTo>
                  <a:pt x="0" y="0"/>
                </a:moveTo>
                <a:lnTo>
                  <a:pt x="20409103" y="0"/>
                </a:lnTo>
                <a:lnTo>
                  <a:pt x="20409103" y="1443068"/>
                </a:lnTo>
                <a:lnTo>
                  <a:pt x="0" y="1443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898068" y="2179650"/>
            <a:ext cx="10042068" cy="6664282"/>
          </a:xfrm>
          <a:custGeom>
            <a:avLst/>
            <a:gdLst/>
            <a:ahLst/>
            <a:cxnLst/>
            <a:rect r="r" b="b" t="t" l="l"/>
            <a:pathLst>
              <a:path h="6664282" w="10042068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1748364" y="8843932"/>
            <a:ext cx="20409103" cy="1443068"/>
          </a:xfrm>
          <a:custGeom>
            <a:avLst/>
            <a:gdLst/>
            <a:ahLst/>
            <a:cxnLst/>
            <a:rect r="r" b="b" t="t" l="l"/>
            <a:pathLst>
              <a:path h="1443068" w="20409103">
                <a:moveTo>
                  <a:pt x="20409103" y="1443068"/>
                </a:moveTo>
                <a:lnTo>
                  <a:pt x="0" y="1443068"/>
                </a:lnTo>
                <a:lnTo>
                  <a:pt x="0" y="0"/>
                </a:lnTo>
                <a:lnTo>
                  <a:pt x="20409103" y="0"/>
                </a:lnTo>
                <a:lnTo>
                  <a:pt x="20409103" y="14430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69859" y="5916032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0" y="0"/>
                </a:moveTo>
                <a:lnTo>
                  <a:pt x="5118141" y="0"/>
                </a:lnTo>
                <a:lnTo>
                  <a:pt x="5118141" y="3396584"/>
                </a:lnTo>
                <a:lnTo>
                  <a:pt x="0" y="3396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3527750"/>
            <a:ext cx="18288000" cy="1231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16"/>
              </a:lnSpc>
            </a:pPr>
            <a:r>
              <a:rPr lang="en-US" b="true" sz="8800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Mutual Fund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5034713"/>
            <a:ext cx="18288000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0"/>
              </a:lnSpc>
            </a:pPr>
            <a:r>
              <a:rPr lang="en-US" b="true" sz="6000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Bluestock Fintech Capstone Project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-995176" y="1137951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5118142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2" y="3396584"/>
                </a:lnTo>
                <a:lnTo>
                  <a:pt x="51181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0" y="7412209"/>
            <a:ext cx="18288000" cy="561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9"/>
              </a:lnSpc>
            </a:pPr>
            <a:r>
              <a:rPr lang="en-US" b="true" sz="3999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Submitted by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8112986"/>
            <a:ext cx="182880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4"/>
              </a:lnSpc>
            </a:pPr>
            <a:r>
              <a:rPr lang="en-US" b="true" sz="4499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Siva Kumar Bandaru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0717673" y="793797"/>
            <a:ext cx="8638773" cy="5733004"/>
          </a:xfrm>
          <a:custGeom>
            <a:avLst/>
            <a:gdLst/>
            <a:ahLst/>
            <a:cxnLst/>
            <a:rect r="r" b="b" t="t" l="l"/>
            <a:pathLst>
              <a:path h="5733004" w="8638773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68815" y="2927354"/>
            <a:ext cx="8182690" cy="5430330"/>
          </a:xfrm>
          <a:custGeom>
            <a:avLst/>
            <a:gdLst/>
            <a:ahLst/>
            <a:cxnLst/>
            <a:rect r="r" b="b" t="t" l="l"/>
            <a:pathLst>
              <a:path h="5430330" w="818269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66697" y="394684"/>
            <a:ext cx="4867296" cy="3230114"/>
          </a:xfrm>
          <a:custGeom>
            <a:avLst/>
            <a:gdLst/>
            <a:ahLst/>
            <a:cxnLst/>
            <a:rect r="r" b="b" t="t" l="l"/>
            <a:pathLst>
              <a:path h="3230114" w="4867296">
                <a:moveTo>
                  <a:pt x="0" y="0"/>
                </a:moveTo>
                <a:lnTo>
                  <a:pt x="4867296" y="0"/>
                </a:lnTo>
                <a:lnTo>
                  <a:pt x="4867296" y="3230115"/>
                </a:lnTo>
                <a:lnTo>
                  <a:pt x="0" y="32301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994008" y="7465806"/>
            <a:ext cx="3255742" cy="2160629"/>
          </a:xfrm>
          <a:custGeom>
            <a:avLst/>
            <a:gdLst/>
            <a:ahLst/>
            <a:cxnLst/>
            <a:rect r="r" b="b" t="t" l="l"/>
            <a:pathLst>
              <a:path h="2160629" w="3255742">
                <a:moveTo>
                  <a:pt x="3255742" y="0"/>
                </a:moveTo>
                <a:lnTo>
                  <a:pt x="0" y="0"/>
                </a:lnTo>
                <a:lnTo>
                  <a:pt x="0" y="2160628"/>
                </a:lnTo>
                <a:lnTo>
                  <a:pt x="3255742" y="2160628"/>
                </a:lnTo>
                <a:lnTo>
                  <a:pt x="32557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5262" y="-488243"/>
            <a:ext cx="4653219" cy="3511066"/>
          </a:xfrm>
          <a:custGeom>
            <a:avLst/>
            <a:gdLst/>
            <a:ahLst/>
            <a:cxnLst/>
            <a:rect r="r" b="b" t="t" l="l"/>
            <a:pathLst>
              <a:path h="3511066" w="4653219">
                <a:moveTo>
                  <a:pt x="0" y="0"/>
                </a:moveTo>
                <a:lnTo>
                  <a:pt x="4653220" y="0"/>
                </a:lnTo>
                <a:lnTo>
                  <a:pt x="4653220" y="3511066"/>
                </a:lnTo>
                <a:lnTo>
                  <a:pt x="0" y="3511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409572" y="6838370"/>
            <a:ext cx="5171931" cy="3902457"/>
          </a:xfrm>
          <a:custGeom>
            <a:avLst/>
            <a:gdLst/>
            <a:ahLst/>
            <a:cxnLst/>
            <a:rect r="r" b="b" t="t" l="l"/>
            <a:pathLst>
              <a:path h="3902457" w="5171931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38326" y="3567649"/>
            <a:ext cx="14890392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4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evelop a complete Mutual Fund Analytics solution that transforms raw financial datasets into actionable business insights using data engineering, analytics, visualization, and reporting.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492817" y="1267290"/>
            <a:ext cx="6581534" cy="1268441"/>
          </a:xfrm>
          <a:custGeom>
            <a:avLst/>
            <a:gdLst/>
            <a:ahLst/>
            <a:cxnLst/>
            <a:rect r="r" b="b" t="t" l="l"/>
            <a:pathLst>
              <a:path h="1268441" w="6581534">
                <a:moveTo>
                  <a:pt x="0" y="0"/>
                </a:moveTo>
                <a:lnTo>
                  <a:pt x="6581534" y="0"/>
                </a:lnTo>
                <a:lnTo>
                  <a:pt x="6581534" y="1268441"/>
                </a:lnTo>
                <a:lnTo>
                  <a:pt x="0" y="12684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286911" y="1607188"/>
            <a:ext cx="578744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4"/>
              </a:lnSpc>
            </a:pPr>
            <a:r>
              <a:rPr lang="en-US" b="true" sz="4499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Project 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38326" y="2465828"/>
            <a:ext cx="3125648" cy="90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43"/>
              </a:lnSpc>
            </a:pPr>
            <a:r>
              <a:rPr lang="en-US" b="true" sz="325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Objective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38326" y="5969907"/>
            <a:ext cx="14247693" cy="349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Bui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ld an automated ETL pipeline</a:t>
            </a:r>
          </a:p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Clean and validate financial datasets</a:t>
            </a:r>
          </a:p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Design a relational SQLite database</a:t>
            </a:r>
          </a:p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Perform Exploratory Data Analysis (EDA)</a:t>
            </a:r>
          </a:p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Compute mutual fund performance metrics</a:t>
            </a:r>
          </a:p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Develop interactive Power BI dashboards</a:t>
            </a:r>
          </a:p>
          <a:p>
            <a:pPr algn="just" marL="539749" indent="-269875" lvl="1">
              <a:lnSpc>
                <a:spcPts val="3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Generate investment recommendations using analytics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38326" y="4869399"/>
            <a:ext cx="3125648" cy="90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43"/>
              </a:lnSpc>
            </a:pPr>
            <a:r>
              <a:rPr lang="en-US" b="true" sz="325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Project Goals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0717673" y="793797"/>
            <a:ext cx="8638773" cy="5733004"/>
          </a:xfrm>
          <a:custGeom>
            <a:avLst/>
            <a:gdLst/>
            <a:ahLst/>
            <a:cxnLst/>
            <a:rect r="r" b="b" t="t" l="l"/>
            <a:pathLst>
              <a:path h="5733004" w="8638773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68815" y="2927354"/>
            <a:ext cx="8182690" cy="5430330"/>
          </a:xfrm>
          <a:custGeom>
            <a:avLst/>
            <a:gdLst/>
            <a:ahLst/>
            <a:cxnLst/>
            <a:rect r="r" b="b" t="t" l="l"/>
            <a:pathLst>
              <a:path h="5430330" w="818269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66697" y="394684"/>
            <a:ext cx="4867296" cy="3230114"/>
          </a:xfrm>
          <a:custGeom>
            <a:avLst/>
            <a:gdLst/>
            <a:ahLst/>
            <a:cxnLst/>
            <a:rect r="r" b="b" t="t" l="l"/>
            <a:pathLst>
              <a:path h="3230114" w="4867296">
                <a:moveTo>
                  <a:pt x="0" y="0"/>
                </a:moveTo>
                <a:lnTo>
                  <a:pt x="4867296" y="0"/>
                </a:lnTo>
                <a:lnTo>
                  <a:pt x="4867296" y="3230115"/>
                </a:lnTo>
                <a:lnTo>
                  <a:pt x="0" y="32301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994008" y="7465806"/>
            <a:ext cx="3255742" cy="2160629"/>
          </a:xfrm>
          <a:custGeom>
            <a:avLst/>
            <a:gdLst/>
            <a:ahLst/>
            <a:cxnLst/>
            <a:rect r="r" b="b" t="t" l="l"/>
            <a:pathLst>
              <a:path h="2160629" w="3255742">
                <a:moveTo>
                  <a:pt x="3255742" y="0"/>
                </a:moveTo>
                <a:lnTo>
                  <a:pt x="0" y="0"/>
                </a:lnTo>
                <a:lnTo>
                  <a:pt x="0" y="2160628"/>
                </a:lnTo>
                <a:lnTo>
                  <a:pt x="3255742" y="2160628"/>
                </a:lnTo>
                <a:lnTo>
                  <a:pt x="32557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5262" y="-488243"/>
            <a:ext cx="4653219" cy="3511066"/>
          </a:xfrm>
          <a:custGeom>
            <a:avLst/>
            <a:gdLst/>
            <a:ahLst/>
            <a:cxnLst/>
            <a:rect r="r" b="b" t="t" l="l"/>
            <a:pathLst>
              <a:path h="3511066" w="4653219">
                <a:moveTo>
                  <a:pt x="0" y="0"/>
                </a:moveTo>
                <a:lnTo>
                  <a:pt x="4653220" y="0"/>
                </a:lnTo>
                <a:lnTo>
                  <a:pt x="4653220" y="3511066"/>
                </a:lnTo>
                <a:lnTo>
                  <a:pt x="0" y="3511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409572" y="6838370"/>
            <a:ext cx="5171931" cy="3902457"/>
          </a:xfrm>
          <a:custGeom>
            <a:avLst/>
            <a:gdLst/>
            <a:ahLst/>
            <a:cxnLst/>
            <a:rect r="r" b="b" t="t" l="l"/>
            <a:pathLst>
              <a:path h="3902457" w="5171931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38326" y="3529549"/>
            <a:ext cx="14890392" cy="93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4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 project integrates multiple datasets covering different aspects of the mutual fund industry.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492817" y="1267290"/>
            <a:ext cx="6581534" cy="1268441"/>
          </a:xfrm>
          <a:custGeom>
            <a:avLst/>
            <a:gdLst/>
            <a:ahLst/>
            <a:cxnLst/>
            <a:rect r="r" b="b" t="t" l="l"/>
            <a:pathLst>
              <a:path h="1268441" w="6581534">
                <a:moveTo>
                  <a:pt x="0" y="0"/>
                </a:moveTo>
                <a:lnTo>
                  <a:pt x="6581534" y="0"/>
                </a:lnTo>
                <a:lnTo>
                  <a:pt x="6581534" y="1268441"/>
                </a:lnTo>
                <a:lnTo>
                  <a:pt x="0" y="12684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286911" y="1607188"/>
            <a:ext cx="578744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4"/>
              </a:lnSpc>
            </a:pPr>
            <a:r>
              <a:rPr lang="en-US" b="true" sz="4499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Data Sources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38326" y="2465828"/>
            <a:ext cx="3125648" cy="90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43"/>
              </a:lnSpc>
            </a:pPr>
            <a:r>
              <a:rPr lang="en-US" b="true" sz="325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Data Sources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22530" y="5303157"/>
            <a:ext cx="4019096" cy="275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nd Master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NAV History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AUM by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Fund House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nthly SIP Inflows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Cat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egory Inflows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38326" y="4297899"/>
            <a:ext cx="3125648" cy="90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43"/>
              </a:lnSpc>
            </a:pPr>
            <a:r>
              <a:rPr lang="en-US" b="true" sz="325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Datasets Used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12621" y="5303157"/>
            <a:ext cx="4442641" cy="275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ndustry Folio Count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Investor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Tra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nsactions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Sc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heme Performance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Portfolio Holdings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enchmark Indices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0717673" y="793797"/>
            <a:ext cx="8638773" cy="5733004"/>
          </a:xfrm>
          <a:custGeom>
            <a:avLst/>
            <a:gdLst/>
            <a:ahLst/>
            <a:cxnLst/>
            <a:rect r="r" b="b" t="t" l="l"/>
            <a:pathLst>
              <a:path h="5733004" w="8638773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68815" y="2927354"/>
            <a:ext cx="6836366" cy="4536861"/>
          </a:xfrm>
          <a:custGeom>
            <a:avLst/>
            <a:gdLst/>
            <a:ahLst/>
            <a:cxnLst/>
            <a:rect r="r" b="b" t="t" l="l"/>
            <a:pathLst>
              <a:path h="4536861" w="6836366">
                <a:moveTo>
                  <a:pt x="6836366" y="0"/>
                </a:moveTo>
                <a:lnTo>
                  <a:pt x="0" y="0"/>
                </a:lnTo>
                <a:lnTo>
                  <a:pt x="0" y="4536861"/>
                </a:lnTo>
                <a:lnTo>
                  <a:pt x="6836366" y="4536861"/>
                </a:lnTo>
                <a:lnTo>
                  <a:pt x="6836366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27791" y="394684"/>
            <a:ext cx="3960209" cy="2628139"/>
          </a:xfrm>
          <a:custGeom>
            <a:avLst/>
            <a:gdLst/>
            <a:ahLst/>
            <a:cxnLst/>
            <a:rect r="r" b="b" t="t" l="l"/>
            <a:pathLst>
              <a:path h="2628139" w="3960209">
                <a:moveTo>
                  <a:pt x="0" y="0"/>
                </a:moveTo>
                <a:lnTo>
                  <a:pt x="3960209" y="0"/>
                </a:lnTo>
                <a:lnTo>
                  <a:pt x="3960209" y="2628139"/>
                </a:lnTo>
                <a:lnTo>
                  <a:pt x="0" y="26281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994008" y="7465806"/>
            <a:ext cx="3255742" cy="2160629"/>
          </a:xfrm>
          <a:custGeom>
            <a:avLst/>
            <a:gdLst/>
            <a:ahLst/>
            <a:cxnLst/>
            <a:rect r="r" b="b" t="t" l="l"/>
            <a:pathLst>
              <a:path h="2160629" w="3255742">
                <a:moveTo>
                  <a:pt x="3255742" y="0"/>
                </a:moveTo>
                <a:lnTo>
                  <a:pt x="0" y="0"/>
                </a:lnTo>
                <a:lnTo>
                  <a:pt x="0" y="2160628"/>
                </a:lnTo>
                <a:lnTo>
                  <a:pt x="3255742" y="2160628"/>
                </a:lnTo>
                <a:lnTo>
                  <a:pt x="32557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5262" y="-488243"/>
            <a:ext cx="4653219" cy="3511066"/>
          </a:xfrm>
          <a:custGeom>
            <a:avLst/>
            <a:gdLst/>
            <a:ahLst/>
            <a:cxnLst/>
            <a:rect r="r" b="b" t="t" l="l"/>
            <a:pathLst>
              <a:path h="3511066" w="4653219">
                <a:moveTo>
                  <a:pt x="0" y="0"/>
                </a:moveTo>
                <a:lnTo>
                  <a:pt x="4653220" y="0"/>
                </a:lnTo>
                <a:lnTo>
                  <a:pt x="4653220" y="3511066"/>
                </a:lnTo>
                <a:lnTo>
                  <a:pt x="0" y="3511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409572" y="6838370"/>
            <a:ext cx="5171931" cy="3902457"/>
          </a:xfrm>
          <a:custGeom>
            <a:avLst/>
            <a:gdLst/>
            <a:ahLst/>
            <a:cxnLst/>
            <a:rect r="r" b="b" t="t" l="l"/>
            <a:pathLst>
              <a:path h="3902457" w="5171931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2707027" y="1676249"/>
            <a:ext cx="4657591" cy="8145412"/>
          </a:xfrm>
          <a:custGeom>
            <a:avLst/>
            <a:gdLst/>
            <a:ahLst/>
            <a:cxnLst/>
            <a:rect r="r" b="b" t="t" l="l"/>
            <a:pathLst>
              <a:path h="8145412" w="4657591">
                <a:moveTo>
                  <a:pt x="4657591" y="0"/>
                </a:moveTo>
                <a:lnTo>
                  <a:pt x="0" y="0"/>
                </a:lnTo>
                <a:lnTo>
                  <a:pt x="0" y="8145412"/>
                </a:lnTo>
                <a:lnTo>
                  <a:pt x="4657591" y="8145412"/>
                </a:lnTo>
                <a:lnTo>
                  <a:pt x="4657591" y="0"/>
                </a:lnTo>
                <a:close/>
              </a:path>
            </a:pathLst>
          </a:custGeom>
          <a:blipFill>
            <a:blip r:embed="rId6"/>
            <a:stretch>
              <a:fillRect l="-19398" t="0" r="0" b="-756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288543" y="1676249"/>
            <a:ext cx="7119593" cy="8145412"/>
          </a:xfrm>
          <a:custGeom>
            <a:avLst/>
            <a:gdLst/>
            <a:ahLst/>
            <a:cxnLst/>
            <a:rect r="r" b="b" t="t" l="l"/>
            <a:pathLst>
              <a:path h="8145412" w="7119593">
                <a:moveTo>
                  <a:pt x="0" y="0"/>
                </a:moveTo>
                <a:lnTo>
                  <a:pt x="7119593" y="0"/>
                </a:lnTo>
                <a:lnTo>
                  <a:pt x="7119593" y="8145412"/>
                </a:lnTo>
                <a:lnTo>
                  <a:pt x="0" y="81454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45969" y="628650"/>
            <a:ext cx="4018649" cy="90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3"/>
              </a:lnSpc>
            </a:pPr>
            <a:r>
              <a:rPr lang="en-US" b="true" sz="325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Tools Used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41718" y="1753408"/>
            <a:ext cx="2721294" cy="96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750"/>
              </a:lnSpc>
            </a:pPr>
            <a:r>
              <a:rPr lang="en-US" b="true" sz="350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Python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82628" y="1462604"/>
            <a:ext cx="1118509" cy="1365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46"/>
              </a:lnSpc>
            </a:pPr>
            <a:r>
              <a:rPr lang="en-US" b="true" sz="4938">
                <a:solidFill>
                  <a:srgbClr val="FFFFFF"/>
                </a:solidFill>
                <a:latin typeface="Cardo Bold"/>
                <a:ea typeface="Cardo Bold"/>
                <a:cs typeface="Cardo Bold"/>
                <a:sym typeface="Cardo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41718" y="3432874"/>
            <a:ext cx="2721294" cy="96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750"/>
              </a:lnSpc>
            </a:pPr>
            <a:r>
              <a:rPr lang="en-US" b="true" sz="350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Pandas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82628" y="3142070"/>
            <a:ext cx="1118509" cy="1365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46"/>
              </a:lnSpc>
            </a:pPr>
            <a:r>
              <a:rPr lang="en-US" b="true" sz="4938">
                <a:solidFill>
                  <a:srgbClr val="FFFFFF"/>
                </a:solidFill>
                <a:latin typeface="Cardo Bold"/>
                <a:ea typeface="Cardo Bold"/>
                <a:cs typeface="Cardo Bold"/>
                <a:sym typeface="Cardo Bold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41718" y="5112340"/>
            <a:ext cx="2721294" cy="96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750"/>
              </a:lnSpc>
            </a:pPr>
            <a:r>
              <a:rPr lang="en-US" b="true" sz="350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SQLi</a:t>
            </a:r>
            <a:r>
              <a:rPr lang="en-US" b="true" sz="350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82628" y="4821536"/>
            <a:ext cx="1118509" cy="1365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46"/>
              </a:lnSpc>
            </a:pPr>
            <a:r>
              <a:rPr lang="en-US" b="true" sz="4938">
                <a:solidFill>
                  <a:srgbClr val="FFFFFF"/>
                </a:solidFill>
                <a:latin typeface="Cardo Bold"/>
                <a:ea typeface="Cardo Bold"/>
                <a:cs typeface="Cardo Bold"/>
                <a:sym typeface="Cardo Bold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441718" y="6762540"/>
            <a:ext cx="2721294" cy="96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750"/>
              </a:lnSpc>
            </a:pPr>
            <a:r>
              <a:rPr lang="en-US" b="true" sz="350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Plotly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82628" y="6471736"/>
            <a:ext cx="1118509" cy="1365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46"/>
              </a:lnSpc>
            </a:pPr>
            <a:r>
              <a:rPr lang="en-US" b="true" sz="4938">
                <a:solidFill>
                  <a:srgbClr val="FFFFFF"/>
                </a:solidFill>
                <a:latin typeface="Cardo Bold"/>
                <a:ea typeface="Cardo Bold"/>
                <a:cs typeface="Cardo Bold"/>
                <a:sym typeface="Cardo Bold"/>
              </a:rPr>
              <a:t>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441718" y="8409721"/>
            <a:ext cx="2721294" cy="96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750"/>
              </a:lnSpc>
            </a:pPr>
            <a:r>
              <a:rPr lang="en-US" b="true" sz="350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Power BI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182628" y="8118917"/>
            <a:ext cx="1118509" cy="1365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46"/>
              </a:lnSpc>
            </a:pPr>
            <a:r>
              <a:rPr lang="en-US" b="true" sz="4938">
                <a:solidFill>
                  <a:srgbClr val="FFFFFF"/>
                </a:solidFill>
                <a:latin typeface="Cardo Bold"/>
                <a:ea typeface="Cardo Bold"/>
                <a:cs typeface="Cardo Bold"/>
                <a:sym typeface="Cardo Bold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0717673" y="793797"/>
            <a:ext cx="8638773" cy="5733004"/>
          </a:xfrm>
          <a:custGeom>
            <a:avLst/>
            <a:gdLst/>
            <a:ahLst/>
            <a:cxnLst/>
            <a:rect r="r" b="b" t="t" l="l"/>
            <a:pathLst>
              <a:path h="5733004" w="8638773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68815" y="2927354"/>
            <a:ext cx="8182690" cy="5430330"/>
          </a:xfrm>
          <a:custGeom>
            <a:avLst/>
            <a:gdLst/>
            <a:ahLst/>
            <a:cxnLst/>
            <a:rect r="r" b="b" t="t" l="l"/>
            <a:pathLst>
              <a:path h="5430330" w="818269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66697" y="394684"/>
            <a:ext cx="4867296" cy="3230114"/>
          </a:xfrm>
          <a:custGeom>
            <a:avLst/>
            <a:gdLst/>
            <a:ahLst/>
            <a:cxnLst/>
            <a:rect r="r" b="b" t="t" l="l"/>
            <a:pathLst>
              <a:path h="3230114" w="4867296">
                <a:moveTo>
                  <a:pt x="0" y="0"/>
                </a:moveTo>
                <a:lnTo>
                  <a:pt x="4867296" y="0"/>
                </a:lnTo>
                <a:lnTo>
                  <a:pt x="4867296" y="3230115"/>
                </a:lnTo>
                <a:lnTo>
                  <a:pt x="0" y="32301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994008" y="7465806"/>
            <a:ext cx="3255742" cy="2160629"/>
          </a:xfrm>
          <a:custGeom>
            <a:avLst/>
            <a:gdLst/>
            <a:ahLst/>
            <a:cxnLst/>
            <a:rect r="r" b="b" t="t" l="l"/>
            <a:pathLst>
              <a:path h="2160629" w="3255742">
                <a:moveTo>
                  <a:pt x="3255742" y="0"/>
                </a:moveTo>
                <a:lnTo>
                  <a:pt x="0" y="0"/>
                </a:lnTo>
                <a:lnTo>
                  <a:pt x="0" y="2160628"/>
                </a:lnTo>
                <a:lnTo>
                  <a:pt x="3255742" y="2160628"/>
                </a:lnTo>
                <a:lnTo>
                  <a:pt x="32557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5262" y="-488243"/>
            <a:ext cx="4653219" cy="3511066"/>
          </a:xfrm>
          <a:custGeom>
            <a:avLst/>
            <a:gdLst/>
            <a:ahLst/>
            <a:cxnLst/>
            <a:rect r="r" b="b" t="t" l="l"/>
            <a:pathLst>
              <a:path h="3511066" w="4653219">
                <a:moveTo>
                  <a:pt x="0" y="0"/>
                </a:moveTo>
                <a:lnTo>
                  <a:pt x="4653220" y="0"/>
                </a:lnTo>
                <a:lnTo>
                  <a:pt x="4653220" y="3511066"/>
                </a:lnTo>
                <a:lnTo>
                  <a:pt x="0" y="3511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409572" y="6838370"/>
            <a:ext cx="5171931" cy="3902457"/>
          </a:xfrm>
          <a:custGeom>
            <a:avLst/>
            <a:gdLst/>
            <a:ahLst/>
            <a:cxnLst/>
            <a:rect r="r" b="b" t="t" l="l"/>
            <a:pathLst>
              <a:path h="3902457" w="5171931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38326" y="3491449"/>
            <a:ext cx="14890392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Key analys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 performed include: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492817" y="1267290"/>
            <a:ext cx="6581534" cy="1268441"/>
          </a:xfrm>
          <a:custGeom>
            <a:avLst/>
            <a:gdLst/>
            <a:ahLst/>
            <a:cxnLst/>
            <a:rect r="r" b="b" t="t" l="l"/>
            <a:pathLst>
              <a:path h="1268441" w="6581534">
                <a:moveTo>
                  <a:pt x="0" y="0"/>
                </a:moveTo>
                <a:lnTo>
                  <a:pt x="6581534" y="0"/>
                </a:lnTo>
                <a:lnTo>
                  <a:pt x="6581534" y="1268441"/>
                </a:lnTo>
                <a:lnTo>
                  <a:pt x="0" y="12684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286911" y="1677356"/>
            <a:ext cx="5857089" cy="48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4"/>
              </a:lnSpc>
            </a:pPr>
            <a:r>
              <a:rPr lang="en-US" b="true" sz="3499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Exploratory Data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38326" y="2465828"/>
            <a:ext cx="5181912" cy="90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43"/>
              </a:lnSpc>
            </a:pPr>
            <a:r>
              <a:rPr lang="en-US" b="true" sz="325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Exploratory Data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48937" y="4136045"/>
            <a:ext cx="4971300" cy="443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NAV Tre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nd Analysis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AUM Growth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Analysis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SIP Grow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 Analysis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Investor Demographics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Sector Allocation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State-wise Investments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Cat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egory-wise Inflows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Correlation Analysis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2609738" y="2887035"/>
            <a:ext cx="6771599" cy="4493879"/>
          </a:xfrm>
          <a:custGeom>
            <a:avLst/>
            <a:gdLst/>
            <a:ahLst/>
            <a:cxnLst/>
            <a:rect r="r" b="b" t="t" l="l"/>
            <a:pathLst>
              <a:path h="4493879" w="6771599">
                <a:moveTo>
                  <a:pt x="0" y="4493880"/>
                </a:moveTo>
                <a:lnTo>
                  <a:pt x="6771598" y="4493880"/>
                </a:lnTo>
                <a:lnTo>
                  <a:pt x="6771598" y="0"/>
                </a:lnTo>
                <a:lnTo>
                  <a:pt x="0" y="0"/>
                </a:lnTo>
                <a:lnTo>
                  <a:pt x="0" y="449388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68815" y="2927354"/>
            <a:ext cx="5036379" cy="3342325"/>
          </a:xfrm>
          <a:custGeom>
            <a:avLst/>
            <a:gdLst/>
            <a:ahLst/>
            <a:cxnLst/>
            <a:rect r="r" b="b" t="t" l="l"/>
            <a:pathLst>
              <a:path h="3342325" w="5036379">
                <a:moveTo>
                  <a:pt x="5036380" y="0"/>
                </a:moveTo>
                <a:lnTo>
                  <a:pt x="0" y="0"/>
                </a:lnTo>
                <a:lnTo>
                  <a:pt x="0" y="3342325"/>
                </a:lnTo>
                <a:lnTo>
                  <a:pt x="5036380" y="3342325"/>
                </a:lnTo>
                <a:lnTo>
                  <a:pt x="503638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08724" y="394684"/>
            <a:ext cx="4025268" cy="2671314"/>
          </a:xfrm>
          <a:custGeom>
            <a:avLst/>
            <a:gdLst/>
            <a:ahLst/>
            <a:cxnLst/>
            <a:rect r="r" b="b" t="t" l="l"/>
            <a:pathLst>
              <a:path h="2671314" w="4025268">
                <a:moveTo>
                  <a:pt x="0" y="0"/>
                </a:moveTo>
                <a:lnTo>
                  <a:pt x="4025269" y="0"/>
                </a:lnTo>
                <a:lnTo>
                  <a:pt x="4025269" y="2671315"/>
                </a:lnTo>
                <a:lnTo>
                  <a:pt x="0" y="2671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994008" y="7465806"/>
            <a:ext cx="3255742" cy="2160629"/>
          </a:xfrm>
          <a:custGeom>
            <a:avLst/>
            <a:gdLst/>
            <a:ahLst/>
            <a:cxnLst/>
            <a:rect r="r" b="b" t="t" l="l"/>
            <a:pathLst>
              <a:path h="2160629" w="3255742">
                <a:moveTo>
                  <a:pt x="3255742" y="0"/>
                </a:moveTo>
                <a:lnTo>
                  <a:pt x="0" y="0"/>
                </a:lnTo>
                <a:lnTo>
                  <a:pt x="0" y="2160628"/>
                </a:lnTo>
                <a:lnTo>
                  <a:pt x="3255742" y="2160628"/>
                </a:lnTo>
                <a:lnTo>
                  <a:pt x="32557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5262" y="-488243"/>
            <a:ext cx="4653219" cy="3511066"/>
          </a:xfrm>
          <a:custGeom>
            <a:avLst/>
            <a:gdLst/>
            <a:ahLst/>
            <a:cxnLst/>
            <a:rect r="r" b="b" t="t" l="l"/>
            <a:pathLst>
              <a:path h="3511066" w="4653219">
                <a:moveTo>
                  <a:pt x="0" y="0"/>
                </a:moveTo>
                <a:lnTo>
                  <a:pt x="4653220" y="0"/>
                </a:lnTo>
                <a:lnTo>
                  <a:pt x="4653220" y="3511066"/>
                </a:lnTo>
                <a:lnTo>
                  <a:pt x="0" y="3511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409572" y="6838370"/>
            <a:ext cx="5171931" cy="3902457"/>
          </a:xfrm>
          <a:custGeom>
            <a:avLst/>
            <a:gdLst/>
            <a:ahLst/>
            <a:cxnLst/>
            <a:rect r="r" b="b" t="t" l="l"/>
            <a:pathLst>
              <a:path h="3902457" w="5171931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89812" y="3862924"/>
            <a:ext cx="6276723" cy="4260014"/>
          </a:xfrm>
          <a:custGeom>
            <a:avLst/>
            <a:gdLst/>
            <a:ahLst/>
            <a:cxnLst/>
            <a:rect r="r" b="b" t="t" l="l"/>
            <a:pathLst>
              <a:path h="4260014" w="6276723">
                <a:moveTo>
                  <a:pt x="0" y="0"/>
                </a:moveTo>
                <a:lnTo>
                  <a:pt x="6276723" y="0"/>
                </a:lnTo>
                <a:lnTo>
                  <a:pt x="6276723" y="4260014"/>
                </a:lnTo>
                <a:lnTo>
                  <a:pt x="0" y="42600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00778" y="3862924"/>
            <a:ext cx="6361315" cy="4260014"/>
          </a:xfrm>
          <a:custGeom>
            <a:avLst/>
            <a:gdLst/>
            <a:ahLst/>
            <a:cxnLst/>
            <a:rect r="r" b="b" t="t" l="l"/>
            <a:pathLst>
              <a:path h="4260014" w="6361315">
                <a:moveTo>
                  <a:pt x="0" y="0"/>
                </a:moveTo>
                <a:lnTo>
                  <a:pt x="6361315" y="0"/>
                </a:lnTo>
                <a:lnTo>
                  <a:pt x="6361315" y="4260014"/>
                </a:lnTo>
                <a:lnTo>
                  <a:pt x="0" y="42600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538326" y="2497674"/>
            <a:ext cx="14890392" cy="102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mutual fund industry show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ed consistent growth in assets under management and investor participation during the study period.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38326" y="1472053"/>
            <a:ext cx="5181912" cy="90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43"/>
              </a:lnSpc>
            </a:pPr>
            <a:r>
              <a:rPr lang="en-US" b="true" sz="325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Key Insight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0717673" y="793797"/>
            <a:ext cx="8638773" cy="5733004"/>
          </a:xfrm>
          <a:custGeom>
            <a:avLst/>
            <a:gdLst/>
            <a:ahLst/>
            <a:cxnLst/>
            <a:rect r="r" b="b" t="t" l="l"/>
            <a:pathLst>
              <a:path h="5733004" w="8638773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68815" y="2927354"/>
            <a:ext cx="8182690" cy="5430330"/>
          </a:xfrm>
          <a:custGeom>
            <a:avLst/>
            <a:gdLst/>
            <a:ahLst/>
            <a:cxnLst/>
            <a:rect r="r" b="b" t="t" l="l"/>
            <a:pathLst>
              <a:path h="5430330" w="818269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66697" y="394684"/>
            <a:ext cx="4867296" cy="3230114"/>
          </a:xfrm>
          <a:custGeom>
            <a:avLst/>
            <a:gdLst/>
            <a:ahLst/>
            <a:cxnLst/>
            <a:rect r="r" b="b" t="t" l="l"/>
            <a:pathLst>
              <a:path h="3230114" w="4867296">
                <a:moveTo>
                  <a:pt x="0" y="0"/>
                </a:moveTo>
                <a:lnTo>
                  <a:pt x="4867296" y="0"/>
                </a:lnTo>
                <a:lnTo>
                  <a:pt x="4867296" y="3230115"/>
                </a:lnTo>
                <a:lnTo>
                  <a:pt x="0" y="32301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994008" y="7465806"/>
            <a:ext cx="3255742" cy="2160629"/>
          </a:xfrm>
          <a:custGeom>
            <a:avLst/>
            <a:gdLst/>
            <a:ahLst/>
            <a:cxnLst/>
            <a:rect r="r" b="b" t="t" l="l"/>
            <a:pathLst>
              <a:path h="2160629" w="3255742">
                <a:moveTo>
                  <a:pt x="3255742" y="0"/>
                </a:moveTo>
                <a:lnTo>
                  <a:pt x="0" y="0"/>
                </a:lnTo>
                <a:lnTo>
                  <a:pt x="0" y="2160628"/>
                </a:lnTo>
                <a:lnTo>
                  <a:pt x="3255742" y="2160628"/>
                </a:lnTo>
                <a:lnTo>
                  <a:pt x="32557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5262" y="-488243"/>
            <a:ext cx="4653219" cy="3511066"/>
          </a:xfrm>
          <a:custGeom>
            <a:avLst/>
            <a:gdLst/>
            <a:ahLst/>
            <a:cxnLst/>
            <a:rect r="r" b="b" t="t" l="l"/>
            <a:pathLst>
              <a:path h="3511066" w="4653219">
                <a:moveTo>
                  <a:pt x="0" y="0"/>
                </a:moveTo>
                <a:lnTo>
                  <a:pt x="4653220" y="0"/>
                </a:lnTo>
                <a:lnTo>
                  <a:pt x="4653220" y="3511066"/>
                </a:lnTo>
                <a:lnTo>
                  <a:pt x="0" y="3511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409572" y="6838370"/>
            <a:ext cx="5171931" cy="3902457"/>
          </a:xfrm>
          <a:custGeom>
            <a:avLst/>
            <a:gdLst/>
            <a:ahLst/>
            <a:cxnLst/>
            <a:rect r="r" b="b" t="t" l="l"/>
            <a:pathLst>
              <a:path h="3902457" w="5171931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38326" y="3529549"/>
            <a:ext cx="14890392" cy="45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4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erformance metrics were calculated using historical NAV data.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492817" y="1267290"/>
            <a:ext cx="6581534" cy="1268441"/>
          </a:xfrm>
          <a:custGeom>
            <a:avLst/>
            <a:gdLst/>
            <a:ahLst/>
            <a:cxnLst/>
            <a:rect r="r" b="b" t="t" l="l"/>
            <a:pathLst>
              <a:path h="1268441" w="6581534">
                <a:moveTo>
                  <a:pt x="0" y="0"/>
                </a:moveTo>
                <a:lnTo>
                  <a:pt x="6581534" y="0"/>
                </a:lnTo>
                <a:lnTo>
                  <a:pt x="6581534" y="1268441"/>
                </a:lnTo>
                <a:lnTo>
                  <a:pt x="0" y="12684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286911" y="1677356"/>
            <a:ext cx="5787440" cy="51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8"/>
              </a:lnSpc>
            </a:pPr>
            <a:r>
              <a:rPr lang="en-US" b="true" sz="3699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Performance Analytics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38326" y="2465828"/>
            <a:ext cx="5872708" cy="90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43"/>
              </a:lnSpc>
            </a:pPr>
            <a:r>
              <a:rPr lang="en-US" b="true" sz="325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Fund Performance Analytics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22530" y="4817382"/>
            <a:ext cx="4019096" cy="387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nual Return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CAGR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Sharpe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Ratio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Sor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tino R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ati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Alpha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Beta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Maximum Drawdown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38326" y="3812124"/>
            <a:ext cx="3125648" cy="90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43"/>
              </a:lnSpc>
            </a:pPr>
            <a:r>
              <a:rPr lang="en-US" b="true" sz="325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Metrics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2609738" y="2887035"/>
            <a:ext cx="6771599" cy="4493879"/>
          </a:xfrm>
          <a:custGeom>
            <a:avLst/>
            <a:gdLst/>
            <a:ahLst/>
            <a:cxnLst/>
            <a:rect r="r" b="b" t="t" l="l"/>
            <a:pathLst>
              <a:path h="4493879" w="6771599">
                <a:moveTo>
                  <a:pt x="0" y="4493880"/>
                </a:moveTo>
                <a:lnTo>
                  <a:pt x="6771598" y="4493880"/>
                </a:lnTo>
                <a:lnTo>
                  <a:pt x="6771598" y="0"/>
                </a:lnTo>
                <a:lnTo>
                  <a:pt x="0" y="0"/>
                </a:lnTo>
                <a:lnTo>
                  <a:pt x="0" y="449388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68815" y="2927354"/>
            <a:ext cx="5036379" cy="3342325"/>
          </a:xfrm>
          <a:custGeom>
            <a:avLst/>
            <a:gdLst/>
            <a:ahLst/>
            <a:cxnLst/>
            <a:rect r="r" b="b" t="t" l="l"/>
            <a:pathLst>
              <a:path h="3342325" w="5036379">
                <a:moveTo>
                  <a:pt x="5036380" y="0"/>
                </a:moveTo>
                <a:lnTo>
                  <a:pt x="0" y="0"/>
                </a:lnTo>
                <a:lnTo>
                  <a:pt x="0" y="3342325"/>
                </a:lnTo>
                <a:lnTo>
                  <a:pt x="5036380" y="3342325"/>
                </a:lnTo>
                <a:lnTo>
                  <a:pt x="503638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08724" y="394684"/>
            <a:ext cx="4025268" cy="2671314"/>
          </a:xfrm>
          <a:custGeom>
            <a:avLst/>
            <a:gdLst/>
            <a:ahLst/>
            <a:cxnLst/>
            <a:rect r="r" b="b" t="t" l="l"/>
            <a:pathLst>
              <a:path h="2671314" w="4025268">
                <a:moveTo>
                  <a:pt x="0" y="0"/>
                </a:moveTo>
                <a:lnTo>
                  <a:pt x="4025269" y="0"/>
                </a:lnTo>
                <a:lnTo>
                  <a:pt x="4025269" y="2671315"/>
                </a:lnTo>
                <a:lnTo>
                  <a:pt x="0" y="2671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994008" y="7465806"/>
            <a:ext cx="3255742" cy="2160629"/>
          </a:xfrm>
          <a:custGeom>
            <a:avLst/>
            <a:gdLst/>
            <a:ahLst/>
            <a:cxnLst/>
            <a:rect r="r" b="b" t="t" l="l"/>
            <a:pathLst>
              <a:path h="2160629" w="3255742">
                <a:moveTo>
                  <a:pt x="3255742" y="0"/>
                </a:moveTo>
                <a:lnTo>
                  <a:pt x="0" y="0"/>
                </a:lnTo>
                <a:lnTo>
                  <a:pt x="0" y="2160628"/>
                </a:lnTo>
                <a:lnTo>
                  <a:pt x="3255742" y="2160628"/>
                </a:lnTo>
                <a:lnTo>
                  <a:pt x="32557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5262" y="-488243"/>
            <a:ext cx="4653219" cy="3511066"/>
          </a:xfrm>
          <a:custGeom>
            <a:avLst/>
            <a:gdLst/>
            <a:ahLst/>
            <a:cxnLst/>
            <a:rect r="r" b="b" t="t" l="l"/>
            <a:pathLst>
              <a:path h="3511066" w="4653219">
                <a:moveTo>
                  <a:pt x="0" y="0"/>
                </a:moveTo>
                <a:lnTo>
                  <a:pt x="4653220" y="0"/>
                </a:lnTo>
                <a:lnTo>
                  <a:pt x="4653220" y="3511066"/>
                </a:lnTo>
                <a:lnTo>
                  <a:pt x="0" y="3511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409572" y="6838370"/>
            <a:ext cx="5171931" cy="3902457"/>
          </a:xfrm>
          <a:custGeom>
            <a:avLst/>
            <a:gdLst/>
            <a:ahLst/>
            <a:cxnLst/>
            <a:rect r="r" b="b" t="t" l="l"/>
            <a:pathLst>
              <a:path h="3902457" w="5171931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75853" y="4035483"/>
            <a:ext cx="6322090" cy="4510637"/>
          </a:xfrm>
          <a:custGeom>
            <a:avLst/>
            <a:gdLst/>
            <a:ahLst/>
            <a:cxnLst/>
            <a:rect r="r" b="b" t="t" l="l"/>
            <a:pathLst>
              <a:path h="4510637" w="6322090">
                <a:moveTo>
                  <a:pt x="0" y="0"/>
                </a:moveTo>
                <a:lnTo>
                  <a:pt x="6322090" y="0"/>
                </a:lnTo>
                <a:lnTo>
                  <a:pt x="6322090" y="4510637"/>
                </a:lnTo>
                <a:lnTo>
                  <a:pt x="0" y="45106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99642" y="4035483"/>
            <a:ext cx="6312505" cy="4510637"/>
          </a:xfrm>
          <a:custGeom>
            <a:avLst/>
            <a:gdLst/>
            <a:ahLst/>
            <a:cxnLst/>
            <a:rect r="r" b="b" t="t" l="l"/>
            <a:pathLst>
              <a:path h="4510637" w="6312505">
                <a:moveTo>
                  <a:pt x="0" y="0"/>
                </a:moveTo>
                <a:lnTo>
                  <a:pt x="6312505" y="0"/>
                </a:lnTo>
                <a:lnTo>
                  <a:pt x="6312505" y="4510637"/>
                </a:lnTo>
                <a:lnTo>
                  <a:pt x="0" y="45106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538326" y="2497674"/>
            <a:ext cx="14890392" cy="102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comprehensive fund scor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ecard was developed to rank schemes based on risk-adjusted performance.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38326" y="1472053"/>
            <a:ext cx="5181912" cy="90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43"/>
              </a:lnSpc>
            </a:pPr>
            <a:r>
              <a:rPr lang="en-US" b="true" sz="325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Outcome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0717673" y="793797"/>
            <a:ext cx="8638773" cy="5733004"/>
          </a:xfrm>
          <a:custGeom>
            <a:avLst/>
            <a:gdLst/>
            <a:ahLst/>
            <a:cxnLst/>
            <a:rect r="r" b="b" t="t" l="l"/>
            <a:pathLst>
              <a:path h="5733004" w="8638773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68815" y="2927354"/>
            <a:ext cx="8182690" cy="5430330"/>
          </a:xfrm>
          <a:custGeom>
            <a:avLst/>
            <a:gdLst/>
            <a:ahLst/>
            <a:cxnLst/>
            <a:rect r="r" b="b" t="t" l="l"/>
            <a:pathLst>
              <a:path h="5430330" w="818269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66697" y="394684"/>
            <a:ext cx="4867296" cy="3230114"/>
          </a:xfrm>
          <a:custGeom>
            <a:avLst/>
            <a:gdLst/>
            <a:ahLst/>
            <a:cxnLst/>
            <a:rect r="r" b="b" t="t" l="l"/>
            <a:pathLst>
              <a:path h="3230114" w="4867296">
                <a:moveTo>
                  <a:pt x="0" y="0"/>
                </a:moveTo>
                <a:lnTo>
                  <a:pt x="4867296" y="0"/>
                </a:lnTo>
                <a:lnTo>
                  <a:pt x="4867296" y="3230115"/>
                </a:lnTo>
                <a:lnTo>
                  <a:pt x="0" y="32301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994008" y="7465806"/>
            <a:ext cx="3255742" cy="2160629"/>
          </a:xfrm>
          <a:custGeom>
            <a:avLst/>
            <a:gdLst/>
            <a:ahLst/>
            <a:cxnLst/>
            <a:rect r="r" b="b" t="t" l="l"/>
            <a:pathLst>
              <a:path h="2160629" w="3255742">
                <a:moveTo>
                  <a:pt x="3255742" y="0"/>
                </a:moveTo>
                <a:lnTo>
                  <a:pt x="0" y="0"/>
                </a:lnTo>
                <a:lnTo>
                  <a:pt x="0" y="2160628"/>
                </a:lnTo>
                <a:lnTo>
                  <a:pt x="3255742" y="2160628"/>
                </a:lnTo>
                <a:lnTo>
                  <a:pt x="32557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5262" y="-488243"/>
            <a:ext cx="4653219" cy="3511066"/>
          </a:xfrm>
          <a:custGeom>
            <a:avLst/>
            <a:gdLst/>
            <a:ahLst/>
            <a:cxnLst/>
            <a:rect r="r" b="b" t="t" l="l"/>
            <a:pathLst>
              <a:path h="3511066" w="4653219">
                <a:moveTo>
                  <a:pt x="0" y="0"/>
                </a:moveTo>
                <a:lnTo>
                  <a:pt x="4653220" y="0"/>
                </a:lnTo>
                <a:lnTo>
                  <a:pt x="4653220" y="3511066"/>
                </a:lnTo>
                <a:lnTo>
                  <a:pt x="0" y="3511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409572" y="6838370"/>
            <a:ext cx="5171931" cy="3902457"/>
          </a:xfrm>
          <a:custGeom>
            <a:avLst/>
            <a:gdLst/>
            <a:ahLst/>
            <a:cxnLst/>
            <a:rect r="r" b="b" t="t" l="l"/>
            <a:pathLst>
              <a:path h="3902457" w="5171931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38326" y="3529549"/>
            <a:ext cx="14890392" cy="45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4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mplemented advanced financial analytics including: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492817" y="1267290"/>
            <a:ext cx="6581534" cy="1268441"/>
          </a:xfrm>
          <a:custGeom>
            <a:avLst/>
            <a:gdLst/>
            <a:ahLst/>
            <a:cxnLst/>
            <a:rect r="r" b="b" t="t" l="l"/>
            <a:pathLst>
              <a:path h="1268441" w="6581534">
                <a:moveTo>
                  <a:pt x="0" y="0"/>
                </a:moveTo>
                <a:lnTo>
                  <a:pt x="6581534" y="0"/>
                </a:lnTo>
                <a:lnTo>
                  <a:pt x="6581534" y="1268441"/>
                </a:lnTo>
                <a:lnTo>
                  <a:pt x="0" y="12684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286911" y="1677356"/>
            <a:ext cx="5787440" cy="51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8"/>
              </a:lnSpc>
            </a:pPr>
            <a:r>
              <a:rPr lang="en-US" b="true" sz="3699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Advanced Analytics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38326" y="2465828"/>
            <a:ext cx="5872708" cy="90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43"/>
              </a:lnSpc>
            </a:pPr>
            <a:r>
              <a:rPr lang="en-US" b="true" sz="325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Advanced Analytics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22530" y="4132055"/>
            <a:ext cx="8275717" cy="331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Historical Value at Risk (VaR)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nditio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nal Value at Risk (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CVaR)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Rolling Sharpe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Ratio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Investor Cohor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 Analysis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Sector Concentr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ati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 (HHI)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Ru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le-based Fund Recommendation System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3113755" y="3221520"/>
            <a:ext cx="6267581" cy="4159395"/>
          </a:xfrm>
          <a:custGeom>
            <a:avLst/>
            <a:gdLst/>
            <a:ahLst/>
            <a:cxnLst/>
            <a:rect r="r" b="b" t="t" l="l"/>
            <a:pathLst>
              <a:path h="4159395" w="6267581">
                <a:moveTo>
                  <a:pt x="0" y="4159395"/>
                </a:moveTo>
                <a:lnTo>
                  <a:pt x="6267581" y="4159395"/>
                </a:lnTo>
                <a:lnTo>
                  <a:pt x="6267581" y="0"/>
                </a:lnTo>
                <a:lnTo>
                  <a:pt x="0" y="0"/>
                </a:lnTo>
                <a:lnTo>
                  <a:pt x="0" y="4159395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68815" y="2927354"/>
            <a:ext cx="5036379" cy="3342325"/>
          </a:xfrm>
          <a:custGeom>
            <a:avLst/>
            <a:gdLst/>
            <a:ahLst/>
            <a:cxnLst/>
            <a:rect r="r" b="b" t="t" l="l"/>
            <a:pathLst>
              <a:path h="3342325" w="5036379">
                <a:moveTo>
                  <a:pt x="5036380" y="0"/>
                </a:moveTo>
                <a:lnTo>
                  <a:pt x="0" y="0"/>
                </a:lnTo>
                <a:lnTo>
                  <a:pt x="0" y="3342325"/>
                </a:lnTo>
                <a:lnTo>
                  <a:pt x="5036380" y="3342325"/>
                </a:lnTo>
                <a:lnTo>
                  <a:pt x="503638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08724" y="394684"/>
            <a:ext cx="4025268" cy="2671314"/>
          </a:xfrm>
          <a:custGeom>
            <a:avLst/>
            <a:gdLst/>
            <a:ahLst/>
            <a:cxnLst/>
            <a:rect r="r" b="b" t="t" l="l"/>
            <a:pathLst>
              <a:path h="2671314" w="4025268">
                <a:moveTo>
                  <a:pt x="0" y="0"/>
                </a:moveTo>
                <a:lnTo>
                  <a:pt x="4025269" y="0"/>
                </a:lnTo>
                <a:lnTo>
                  <a:pt x="4025269" y="2671315"/>
                </a:lnTo>
                <a:lnTo>
                  <a:pt x="0" y="2671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994008" y="7465806"/>
            <a:ext cx="3255742" cy="2160629"/>
          </a:xfrm>
          <a:custGeom>
            <a:avLst/>
            <a:gdLst/>
            <a:ahLst/>
            <a:cxnLst/>
            <a:rect r="r" b="b" t="t" l="l"/>
            <a:pathLst>
              <a:path h="2160629" w="3255742">
                <a:moveTo>
                  <a:pt x="3255742" y="0"/>
                </a:moveTo>
                <a:lnTo>
                  <a:pt x="0" y="0"/>
                </a:lnTo>
                <a:lnTo>
                  <a:pt x="0" y="2160628"/>
                </a:lnTo>
                <a:lnTo>
                  <a:pt x="3255742" y="2160628"/>
                </a:lnTo>
                <a:lnTo>
                  <a:pt x="32557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5262" y="-488243"/>
            <a:ext cx="4653219" cy="3511066"/>
          </a:xfrm>
          <a:custGeom>
            <a:avLst/>
            <a:gdLst/>
            <a:ahLst/>
            <a:cxnLst/>
            <a:rect r="r" b="b" t="t" l="l"/>
            <a:pathLst>
              <a:path h="3511066" w="4653219">
                <a:moveTo>
                  <a:pt x="0" y="0"/>
                </a:moveTo>
                <a:lnTo>
                  <a:pt x="4653220" y="0"/>
                </a:lnTo>
                <a:lnTo>
                  <a:pt x="4653220" y="3511066"/>
                </a:lnTo>
                <a:lnTo>
                  <a:pt x="0" y="3511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409572" y="6838370"/>
            <a:ext cx="5171931" cy="3902457"/>
          </a:xfrm>
          <a:custGeom>
            <a:avLst/>
            <a:gdLst/>
            <a:ahLst/>
            <a:cxnLst/>
            <a:rect r="r" b="b" t="t" l="l"/>
            <a:pathLst>
              <a:path h="3902457" w="5171931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190778" y="3603600"/>
            <a:ext cx="9906445" cy="5332157"/>
          </a:xfrm>
          <a:custGeom>
            <a:avLst/>
            <a:gdLst/>
            <a:ahLst/>
            <a:cxnLst/>
            <a:rect r="r" b="b" t="t" l="l"/>
            <a:pathLst>
              <a:path h="5332157" w="9906445">
                <a:moveTo>
                  <a:pt x="0" y="0"/>
                </a:moveTo>
                <a:lnTo>
                  <a:pt x="9906444" y="0"/>
                </a:lnTo>
                <a:lnTo>
                  <a:pt x="9906444" y="5332157"/>
                </a:lnTo>
                <a:lnTo>
                  <a:pt x="0" y="53321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38326" y="2497674"/>
            <a:ext cx="12094999" cy="102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Generat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ed data-driven investment recommendations based on investor risk profiles.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38326" y="1472053"/>
            <a:ext cx="5181912" cy="90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43"/>
              </a:lnSpc>
            </a:pPr>
            <a:r>
              <a:rPr lang="en-US" b="true" sz="325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Outcome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0717673" y="793797"/>
            <a:ext cx="8638773" cy="5733004"/>
          </a:xfrm>
          <a:custGeom>
            <a:avLst/>
            <a:gdLst/>
            <a:ahLst/>
            <a:cxnLst/>
            <a:rect r="r" b="b" t="t" l="l"/>
            <a:pathLst>
              <a:path h="5733004" w="8638773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68815" y="2927354"/>
            <a:ext cx="8182690" cy="5430330"/>
          </a:xfrm>
          <a:custGeom>
            <a:avLst/>
            <a:gdLst/>
            <a:ahLst/>
            <a:cxnLst/>
            <a:rect r="r" b="b" t="t" l="l"/>
            <a:pathLst>
              <a:path h="5430330" w="818269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66697" y="394684"/>
            <a:ext cx="4867296" cy="3230114"/>
          </a:xfrm>
          <a:custGeom>
            <a:avLst/>
            <a:gdLst/>
            <a:ahLst/>
            <a:cxnLst/>
            <a:rect r="r" b="b" t="t" l="l"/>
            <a:pathLst>
              <a:path h="3230114" w="4867296">
                <a:moveTo>
                  <a:pt x="0" y="0"/>
                </a:moveTo>
                <a:lnTo>
                  <a:pt x="4867296" y="0"/>
                </a:lnTo>
                <a:lnTo>
                  <a:pt x="4867296" y="3230115"/>
                </a:lnTo>
                <a:lnTo>
                  <a:pt x="0" y="32301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994008" y="7465806"/>
            <a:ext cx="3255742" cy="2160629"/>
          </a:xfrm>
          <a:custGeom>
            <a:avLst/>
            <a:gdLst/>
            <a:ahLst/>
            <a:cxnLst/>
            <a:rect r="r" b="b" t="t" l="l"/>
            <a:pathLst>
              <a:path h="2160629" w="3255742">
                <a:moveTo>
                  <a:pt x="3255742" y="0"/>
                </a:moveTo>
                <a:lnTo>
                  <a:pt x="0" y="0"/>
                </a:lnTo>
                <a:lnTo>
                  <a:pt x="0" y="2160628"/>
                </a:lnTo>
                <a:lnTo>
                  <a:pt x="3255742" y="2160628"/>
                </a:lnTo>
                <a:lnTo>
                  <a:pt x="32557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5262" y="-488243"/>
            <a:ext cx="4653219" cy="3511066"/>
          </a:xfrm>
          <a:custGeom>
            <a:avLst/>
            <a:gdLst/>
            <a:ahLst/>
            <a:cxnLst/>
            <a:rect r="r" b="b" t="t" l="l"/>
            <a:pathLst>
              <a:path h="3511066" w="4653219">
                <a:moveTo>
                  <a:pt x="0" y="0"/>
                </a:moveTo>
                <a:lnTo>
                  <a:pt x="4653220" y="0"/>
                </a:lnTo>
                <a:lnTo>
                  <a:pt x="4653220" y="3511066"/>
                </a:lnTo>
                <a:lnTo>
                  <a:pt x="0" y="3511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409572" y="6838370"/>
            <a:ext cx="5171931" cy="3902457"/>
          </a:xfrm>
          <a:custGeom>
            <a:avLst/>
            <a:gdLst/>
            <a:ahLst/>
            <a:cxnLst/>
            <a:rect r="r" b="b" t="t" l="l"/>
            <a:pathLst>
              <a:path h="3902457" w="5171931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38326" y="3529549"/>
            <a:ext cx="14890392" cy="45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4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eveloped a four-page interactive dashboard.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492817" y="1267290"/>
            <a:ext cx="6581534" cy="1268441"/>
          </a:xfrm>
          <a:custGeom>
            <a:avLst/>
            <a:gdLst/>
            <a:ahLst/>
            <a:cxnLst/>
            <a:rect r="r" b="b" t="t" l="l"/>
            <a:pathLst>
              <a:path h="1268441" w="6581534">
                <a:moveTo>
                  <a:pt x="0" y="0"/>
                </a:moveTo>
                <a:lnTo>
                  <a:pt x="6581534" y="0"/>
                </a:lnTo>
                <a:lnTo>
                  <a:pt x="6581534" y="1268441"/>
                </a:lnTo>
                <a:lnTo>
                  <a:pt x="0" y="12684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286911" y="1677356"/>
            <a:ext cx="5787440" cy="51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8"/>
              </a:lnSpc>
            </a:pPr>
            <a:r>
              <a:rPr lang="en-US" b="true" sz="3699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Power BI Dashboard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38326" y="2465828"/>
            <a:ext cx="5872708" cy="90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43"/>
              </a:lnSpc>
            </a:pPr>
            <a:r>
              <a:rPr lang="en-US" b="true" sz="325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Interactive Dashboard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22530" y="5062836"/>
            <a:ext cx="4463818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Industry Overview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nd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Perf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orm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ance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Investor 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Analytics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SIP &amp; Market Trends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38326" y="4057578"/>
            <a:ext cx="5872708" cy="90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43"/>
              </a:lnSpc>
            </a:pPr>
            <a:r>
              <a:rPr lang="en-US" b="true" sz="325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Dashboard Pages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48556" y="5062836"/>
            <a:ext cx="4463818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KPI Cards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nt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eracti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ve Filters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Dy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namic Charts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Drill-down Analysis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64352" y="4057578"/>
            <a:ext cx="5872708" cy="90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43"/>
              </a:lnSpc>
            </a:pPr>
            <a:r>
              <a:rPr lang="en-US" b="true" sz="325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Features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1128303" y="0"/>
            <a:ext cx="9312974" cy="6180428"/>
          </a:xfrm>
          <a:custGeom>
            <a:avLst/>
            <a:gdLst/>
            <a:ahLst/>
            <a:cxnLst/>
            <a:rect r="r" b="b" t="t" l="l"/>
            <a:pathLst>
              <a:path h="6180428" w="9312974">
                <a:moveTo>
                  <a:pt x="0" y="6180428"/>
                </a:moveTo>
                <a:lnTo>
                  <a:pt x="9312973" y="6180428"/>
                </a:lnTo>
                <a:lnTo>
                  <a:pt x="9312973" y="0"/>
                </a:lnTo>
                <a:lnTo>
                  <a:pt x="0" y="0"/>
                </a:lnTo>
                <a:lnTo>
                  <a:pt x="0" y="6180428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540716" y="6918343"/>
            <a:ext cx="5349333" cy="3550012"/>
          </a:xfrm>
          <a:custGeom>
            <a:avLst/>
            <a:gdLst/>
            <a:ahLst/>
            <a:cxnLst/>
            <a:rect r="r" b="b" t="t" l="l"/>
            <a:pathLst>
              <a:path h="3550012" w="5349333">
                <a:moveTo>
                  <a:pt x="5349332" y="0"/>
                </a:moveTo>
                <a:lnTo>
                  <a:pt x="0" y="0"/>
                </a:lnTo>
                <a:lnTo>
                  <a:pt x="0" y="3550012"/>
                </a:lnTo>
                <a:lnTo>
                  <a:pt x="5349332" y="3550012"/>
                </a:lnTo>
                <a:lnTo>
                  <a:pt x="5349332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8903" y="4982792"/>
            <a:ext cx="4216232" cy="2798045"/>
          </a:xfrm>
          <a:custGeom>
            <a:avLst/>
            <a:gdLst/>
            <a:ahLst/>
            <a:cxnLst/>
            <a:rect r="r" b="b" t="t" l="l"/>
            <a:pathLst>
              <a:path h="2798045" w="4216232">
                <a:moveTo>
                  <a:pt x="0" y="0"/>
                </a:moveTo>
                <a:lnTo>
                  <a:pt x="4216232" y="0"/>
                </a:lnTo>
                <a:lnTo>
                  <a:pt x="4216232" y="2798045"/>
                </a:lnTo>
                <a:lnTo>
                  <a:pt x="0" y="2798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540716" y="2311677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5118141" y="0"/>
                </a:moveTo>
                <a:lnTo>
                  <a:pt x="0" y="0"/>
                </a:lnTo>
                <a:lnTo>
                  <a:pt x="0" y="3396584"/>
                </a:lnTo>
                <a:lnTo>
                  <a:pt x="5118141" y="3396584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05789" y="-488243"/>
            <a:ext cx="5381659" cy="4060706"/>
          </a:xfrm>
          <a:custGeom>
            <a:avLst/>
            <a:gdLst/>
            <a:ahLst/>
            <a:cxnLst/>
            <a:rect r="r" b="b" t="t" l="l"/>
            <a:pathLst>
              <a:path h="4060706" w="5381659">
                <a:moveTo>
                  <a:pt x="0" y="0"/>
                </a:moveTo>
                <a:lnTo>
                  <a:pt x="5381659" y="0"/>
                </a:lnTo>
                <a:lnTo>
                  <a:pt x="5381659" y="4060707"/>
                </a:lnTo>
                <a:lnTo>
                  <a:pt x="0" y="4060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031403" y="6736988"/>
            <a:ext cx="5581585" cy="4211560"/>
          </a:xfrm>
          <a:custGeom>
            <a:avLst/>
            <a:gdLst/>
            <a:ahLst/>
            <a:cxnLst/>
            <a:rect r="r" b="b" t="t" l="l"/>
            <a:pathLst>
              <a:path h="4211560" w="5581585">
                <a:moveTo>
                  <a:pt x="5581585" y="4211560"/>
                </a:moveTo>
                <a:lnTo>
                  <a:pt x="0" y="4211560"/>
                </a:lnTo>
                <a:lnTo>
                  <a:pt x="0" y="0"/>
                </a:lnTo>
                <a:lnTo>
                  <a:pt x="5581585" y="0"/>
                </a:lnTo>
                <a:lnTo>
                  <a:pt x="5581585" y="42115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67758" y="1593651"/>
            <a:ext cx="12552484" cy="7099699"/>
          </a:xfrm>
          <a:custGeom>
            <a:avLst/>
            <a:gdLst/>
            <a:ahLst/>
            <a:cxnLst/>
            <a:rect r="r" b="b" t="t" l="l"/>
            <a:pathLst>
              <a:path h="7099699" w="12552484">
                <a:moveTo>
                  <a:pt x="0" y="0"/>
                </a:moveTo>
                <a:lnTo>
                  <a:pt x="12552484" y="0"/>
                </a:lnTo>
                <a:lnTo>
                  <a:pt x="12552484" y="7099698"/>
                </a:lnTo>
                <a:lnTo>
                  <a:pt x="0" y="70996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74" t="-939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0717673" y="793797"/>
            <a:ext cx="8638773" cy="5733004"/>
          </a:xfrm>
          <a:custGeom>
            <a:avLst/>
            <a:gdLst/>
            <a:ahLst/>
            <a:cxnLst/>
            <a:rect r="r" b="b" t="t" l="l"/>
            <a:pathLst>
              <a:path h="5733004" w="8638773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68815" y="2927354"/>
            <a:ext cx="8182690" cy="5430330"/>
          </a:xfrm>
          <a:custGeom>
            <a:avLst/>
            <a:gdLst/>
            <a:ahLst/>
            <a:cxnLst/>
            <a:rect r="r" b="b" t="t" l="l"/>
            <a:pathLst>
              <a:path h="5430330" w="818269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66697" y="394684"/>
            <a:ext cx="4867296" cy="3230114"/>
          </a:xfrm>
          <a:custGeom>
            <a:avLst/>
            <a:gdLst/>
            <a:ahLst/>
            <a:cxnLst/>
            <a:rect r="r" b="b" t="t" l="l"/>
            <a:pathLst>
              <a:path h="3230114" w="4867296">
                <a:moveTo>
                  <a:pt x="0" y="0"/>
                </a:moveTo>
                <a:lnTo>
                  <a:pt x="4867296" y="0"/>
                </a:lnTo>
                <a:lnTo>
                  <a:pt x="4867296" y="3230115"/>
                </a:lnTo>
                <a:lnTo>
                  <a:pt x="0" y="32301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994008" y="7465806"/>
            <a:ext cx="3255742" cy="2160629"/>
          </a:xfrm>
          <a:custGeom>
            <a:avLst/>
            <a:gdLst/>
            <a:ahLst/>
            <a:cxnLst/>
            <a:rect r="r" b="b" t="t" l="l"/>
            <a:pathLst>
              <a:path h="2160629" w="3255742">
                <a:moveTo>
                  <a:pt x="3255742" y="0"/>
                </a:moveTo>
                <a:lnTo>
                  <a:pt x="0" y="0"/>
                </a:lnTo>
                <a:lnTo>
                  <a:pt x="0" y="2160628"/>
                </a:lnTo>
                <a:lnTo>
                  <a:pt x="3255742" y="2160628"/>
                </a:lnTo>
                <a:lnTo>
                  <a:pt x="32557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5262" y="-488243"/>
            <a:ext cx="4653219" cy="3511066"/>
          </a:xfrm>
          <a:custGeom>
            <a:avLst/>
            <a:gdLst/>
            <a:ahLst/>
            <a:cxnLst/>
            <a:rect r="r" b="b" t="t" l="l"/>
            <a:pathLst>
              <a:path h="3511066" w="4653219">
                <a:moveTo>
                  <a:pt x="0" y="0"/>
                </a:moveTo>
                <a:lnTo>
                  <a:pt x="4653220" y="0"/>
                </a:lnTo>
                <a:lnTo>
                  <a:pt x="4653220" y="3511066"/>
                </a:lnTo>
                <a:lnTo>
                  <a:pt x="0" y="3511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409572" y="6838370"/>
            <a:ext cx="5171931" cy="3902457"/>
          </a:xfrm>
          <a:custGeom>
            <a:avLst/>
            <a:gdLst/>
            <a:ahLst/>
            <a:cxnLst/>
            <a:rect r="r" b="b" t="t" l="l"/>
            <a:pathLst>
              <a:path h="3902457" w="5171931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92817" y="1267290"/>
            <a:ext cx="6581534" cy="1268441"/>
          </a:xfrm>
          <a:custGeom>
            <a:avLst/>
            <a:gdLst/>
            <a:ahLst/>
            <a:cxnLst/>
            <a:rect r="r" b="b" t="t" l="l"/>
            <a:pathLst>
              <a:path h="1268441" w="6581534">
                <a:moveTo>
                  <a:pt x="0" y="0"/>
                </a:moveTo>
                <a:lnTo>
                  <a:pt x="6581534" y="0"/>
                </a:lnTo>
                <a:lnTo>
                  <a:pt x="6581534" y="1268441"/>
                </a:lnTo>
                <a:lnTo>
                  <a:pt x="0" y="12684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86911" y="1677356"/>
            <a:ext cx="5787440" cy="51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8"/>
              </a:lnSpc>
            </a:pPr>
            <a:r>
              <a:rPr lang="en-US" b="true" sz="3699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Key Insights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38326" y="2475353"/>
            <a:ext cx="5872708" cy="90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43"/>
              </a:lnSpc>
            </a:pPr>
            <a:r>
              <a:rPr lang="en-US" b="true" sz="325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Key Findings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22530" y="3627230"/>
            <a:ext cx="11600541" cy="387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Mutual fund AUM increased significantly during the analysis period.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SIP c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ntributio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ns showed steady year-on-year growth.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Equity funds delivered stronger l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ong-term risk-adjusted returns.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Sharpe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Ratio effectively differentiated consistent performers.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Investor participation was highest among 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26–35 age group.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Diversified portfolios demonstrated lower concentr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ati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 risk.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Interactive dashboards simplified complex financial analysis.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0717673" y="793797"/>
            <a:ext cx="8638773" cy="5733004"/>
          </a:xfrm>
          <a:custGeom>
            <a:avLst/>
            <a:gdLst/>
            <a:ahLst/>
            <a:cxnLst/>
            <a:rect r="r" b="b" t="t" l="l"/>
            <a:pathLst>
              <a:path h="5733004" w="8638773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68815" y="2927354"/>
            <a:ext cx="8182690" cy="5430330"/>
          </a:xfrm>
          <a:custGeom>
            <a:avLst/>
            <a:gdLst/>
            <a:ahLst/>
            <a:cxnLst/>
            <a:rect r="r" b="b" t="t" l="l"/>
            <a:pathLst>
              <a:path h="5430330" w="818269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66697" y="394684"/>
            <a:ext cx="4867296" cy="3230114"/>
          </a:xfrm>
          <a:custGeom>
            <a:avLst/>
            <a:gdLst/>
            <a:ahLst/>
            <a:cxnLst/>
            <a:rect r="r" b="b" t="t" l="l"/>
            <a:pathLst>
              <a:path h="3230114" w="4867296">
                <a:moveTo>
                  <a:pt x="0" y="0"/>
                </a:moveTo>
                <a:lnTo>
                  <a:pt x="4867296" y="0"/>
                </a:lnTo>
                <a:lnTo>
                  <a:pt x="4867296" y="3230115"/>
                </a:lnTo>
                <a:lnTo>
                  <a:pt x="0" y="32301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994008" y="7465806"/>
            <a:ext cx="3255742" cy="2160629"/>
          </a:xfrm>
          <a:custGeom>
            <a:avLst/>
            <a:gdLst/>
            <a:ahLst/>
            <a:cxnLst/>
            <a:rect r="r" b="b" t="t" l="l"/>
            <a:pathLst>
              <a:path h="2160629" w="3255742">
                <a:moveTo>
                  <a:pt x="3255742" y="0"/>
                </a:moveTo>
                <a:lnTo>
                  <a:pt x="0" y="0"/>
                </a:lnTo>
                <a:lnTo>
                  <a:pt x="0" y="2160628"/>
                </a:lnTo>
                <a:lnTo>
                  <a:pt x="3255742" y="2160628"/>
                </a:lnTo>
                <a:lnTo>
                  <a:pt x="32557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5262" y="-488243"/>
            <a:ext cx="4653219" cy="3511066"/>
          </a:xfrm>
          <a:custGeom>
            <a:avLst/>
            <a:gdLst/>
            <a:ahLst/>
            <a:cxnLst/>
            <a:rect r="r" b="b" t="t" l="l"/>
            <a:pathLst>
              <a:path h="3511066" w="4653219">
                <a:moveTo>
                  <a:pt x="0" y="0"/>
                </a:moveTo>
                <a:lnTo>
                  <a:pt x="4653220" y="0"/>
                </a:lnTo>
                <a:lnTo>
                  <a:pt x="4653220" y="3511066"/>
                </a:lnTo>
                <a:lnTo>
                  <a:pt x="0" y="3511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409572" y="6838370"/>
            <a:ext cx="5171931" cy="3902457"/>
          </a:xfrm>
          <a:custGeom>
            <a:avLst/>
            <a:gdLst/>
            <a:ahLst/>
            <a:cxnLst/>
            <a:rect r="r" b="b" t="t" l="l"/>
            <a:pathLst>
              <a:path h="3902457" w="5171931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92817" y="1267290"/>
            <a:ext cx="6581534" cy="1268441"/>
          </a:xfrm>
          <a:custGeom>
            <a:avLst/>
            <a:gdLst/>
            <a:ahLst/>
            <a:cxnLst/>
            <a:rect r="r" b="b" t="t" l="l"/>
            <a:pathLst>
              <a:path h="1268441" w="6581534">
                <a:moveTo>
                  <a:pt x="0" y="0"/>
                </a:moveTo>
                <a:lnTo>
                  <a:pt x="6581534" y="0"/>
                </a:lnTo>
                <a:lnTo>
                  <a:pt x="6581534" y="1268441"/>
                </a:lnTo>
                <a:lnTo>
                  <a:pt x="0" y="12684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86911" y="1677356"/>
            <a:ext cx="5787440" cy="51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8"/>
              </a:lnSpc>
            </a:pPr>
            <a:r>
              <a:rPr lang="en-US" b="true" sz="3699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Technologies Used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38326" y="2475353"/>
            <a:ext cx="5872708" cy="90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43"/>
              </a:lnSpc>
            </a:pPr>
            <a:r>
              <a:rPr lang="en-US" b="true" sz="325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Technology Stack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89986" y="4210957"/>
            <a:ext cx="290655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ython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SQL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63136" y="3205699"/>
            <a:ext cx="4030290" cy="90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43"/>
              </a:lnSpc>
            </a:pPr>
            <a:r>
              <a:rPr lang="en-US" b="true" sz="325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Programming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89986" y="6111565"/>
            <a:ext cx="2906550" cy="331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Pandas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Num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Matplotlib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Plotly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SciPy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SQLAlchemy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63136" y="5106307"/>
            <a:ext cx="4009113" cy="90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43"/>
              </a:lnSpc>
            </a:pPr>
            <a:r>
              <a:rPr lang="en-US" b="true" sz="325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Libraries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79620" y="4210301"/>
            <a:ext cx="290655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SQLite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52770" y="3205042"/>
            <a:ext cx="5872708" cy="90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43"/>
              </a:lnSpc>
            </a:pPr>
            <a:r>
              <a:rPr lang="en-US" b="true" sz="325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Database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679620" y="5548934"/>
            <a:ext cx="290655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Pow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er BI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52770" y="4543676"/>
            <a:ext cx="5872708" cy="90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43"/>
              </a:lnSpc>
            </a:pPr>
            <a:r>
              <a:rPr lang="en-US" b="true" sz="325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Visualization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79620" y="6887567"/>
            <a:ext cx="3944234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VS Code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Jupyt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er Notebook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Git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GitHub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52770" y="5882309"/>
            <a:ext cx="5872708" cy="90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43"/>
              </a:lnSpc>
            </a:pPr>
            <a:r>
              <a:rPr lang="en-US" b="true" sz="325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Development Tools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1271175" y="639183"/>
            <a:ext cx="7973432" cy="5291460"/>
          </a:xfrm>
          <a:custGeom>
            <a:avLst/>
            <a:gdLst/>
            <a:ahLst/>
            <a:cxnLst/>
            <a:rect r="r" b="b" t="t" l="l"/>
            <a:pathLst>
              <a:path h="5291460" w="7973432">
                <a:moveTo>
                  <a:pt x="0" y="5291459"/>
                </a:moveTo>
                <a:lnTo>
                  <a:pt x="7973432" y="5291459"/>
                </a:lnTo>
                <a:lnTo>
                  <a:pt x="7973432" y="0"/>
                </a:lnTo>
                <a:lnTo>
                  <a:pt x="0" y="0"/>
                </a:lnTo>
                <a:lnTo>
                  <a:pt x="0" y="5291459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68815" y="2927354"/>
            <a:ext cx="8182690" cy="5430330"/>
          </a:xfrm>
          <a:custGeom>
            <a:avLst/>
            <a:gdLst/>
            <a:ahLst/>
            <a:cxnLst/>
            <a:rect r="r" b="b" t="t" l="l"/>
            <a:pathLst>
              <a:path h="5430330" w="818269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66697" y="394684"/>
            <a:ext cx="4867296" cy="3230114"/>
          </a:xfrm>
          <a:custGeom>
            <a:avLst/>
            <a:gdLst/>
            <a:ahLst/>
            <a:cxnLst/>
            <a:rect r="r" b="b" t="t" l="l"/>
            <a:pathLst>
              <a:path h="3230114" w="4867296">
                <a:moveTo>
                  <a:pt x="0" y="0"/>
                </a:moveTo>
                <a:lnTo>
                  <a:pt x="4867296" y="0"/>
                </a:lnTo>
                <a:lnTo>
                  <a:pt x="4867296" y="3230115"/>
                </a:lnTo>
                <a:lnTo>
                  <a:pt x="0" y="32301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994008" y="7465806"/>
            <a:ext cx="3255742" cy="2160629"/>
          </a:xfrm>
          <a:custGeom>
            <a:avLst/>
            <a:gdLst/>
            <a:ahLst/>
            <a:cxnLst/>
            <a:rect r="r" b="b" t="t" l="l"/>
            <a:pathLst>
              <a:path h="2160629" w="3255742">
                <a:moveTo>
                  <a:pt x="3255742" y="0"/>
                </a:moveTo>
                <a:lnTo>
                  <a:pt x="0" y="0"/>
                </a:lnTo>
                <a:lnTo>
                  <a:pt x="0" y="2160628"/>
                </a:lnTo>
                <a:lnTo>
                  <a:pt x="3255742" y="2160628"/>
                </a:lnTo>
                <a:lnTo>
                  <a:pt x="32557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5262" y="-488243"/>
            <a:ext cx="4653219" cy="3511066"/>
          </a:xfrm>
          <a:custGeom>
            <a:avLst/>
            <a:gdLst/>
            <a:ahLst/>
            <a:cxnLst/>
            <a:rect r="r" b="b" t="t" l="l"/>
            <a:pathLst>
              <a:path h="3511066" w="4653219">
                <a:moveTo>
                  <a:pt x="0" y="0"/>
                </a:moveTo>
                <a:lnTo>
                  <a:pt x="4653220" y="0"/>
                </a:lnTo>
                <a:lnTo>
                  <a:pt x="4653220" y="3511066"/>
                </a:lnTo>
                <a:lnTo>
                  <a:pt x="0" y="3511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409572" y="6838370"/>
            <a:ext cx="5171931" cy="3902457"/>
          </a:xfrm>
          <a:custGeom>
            <a:avLst/>
            <a:gdLst/>
            <a:ahLst/>
            <a:cxnLst/>
            <a:rect r="r" b="b" t="t" l="l"/>
            <a:pathLst>
              <a:path h="3902457" w="5171931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92817" y="1267290"/>
            <a:ext cx="6581534" cy="1268441"/>
          </a:xfrm>
          <a:custGeom>
            <a:avLst/>
            <a:gdLst/>
            <a:ahLst/>
            <a:cxnLst/>
            <a:rect r="r" b="b" t="t" l="l"/>
            <a:pathLst>
              <a:path h="1268441" w="6581534">
                <a:moveTo>
                  <a:pt x="0" y="0"/>
                </a:moveTo>
                <a:lnTo>
                  <a:pt x="6581534" y="0"/>
                </a:lnTo>
                <a:lnTo>
                  <a:pt x="6581534" y="1268441"/>
                </a:lnTo>
                <a:lnTo>
                  <a:pt x="0" y="12684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86911" y="1677356"/>
            <a:ext cx="5787440" cy="51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8"/>
              </a:lnSpc>
            </a:pPr>
            <a:r>
              <a:rPr lang="en-US" b="true" sz="3699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Project Deliverables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28911" y="2517779"/>
            <a:ext cx="5908123" cy="90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43"/>
              </a:lnSpc>
            </a:pPr>
            <a:r>
              <a:rPr lang="en-US" b="true" sz="325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Deliverables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90811" y="3669657"/>
            <a:ext cx="5946223" cy="556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ETL Pipeline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SQL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it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 Database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 Cleani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ng Scripts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SQL Schem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&amp; Queries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EDA Notebook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Performa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nce Analytics No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tebook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vanced Analytics Notebook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Pow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er BI Dashboard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Final Report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GitHub Repository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49768" y="2517779"/>
            <a:ext cx="5908123" cy="90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43"/>
              </a:lnSpc>
            </a:pPr>
            <a:r>
              <a:rPr lang="en-US" b="true" sz="325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Skills Demonstrated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11668" y="3669657"/>
            <a:ext cx="5946223" cy="275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 E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ngine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ering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Fin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ncial Analytics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ta Visualization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Dashboard Development</a:t>
            </a:r>
          </a:p>
          <a:p>
            <a:pPr algn="just" marL="539749" indent="-269875" lvl="1">
              <a:lnSpc>
                <a:spcPts val="4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usiness Intelligence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0717673" y="793797"/>
            <a:ext cx="8638773" cy="5733004"/>
          </a:xfrm>
          <a:custGeom>
            <a:avLst/>
            <a:gdLst/>
            <a:ahLst/>
            <a:cxnLst/>
            <a:rect r="r" b="b" t="t" l="l"/>
            <a:pathLst>
              <a:path h="5733004" w="8638773">
                <a:moveTo>
                  <a:pt x="0" y="5733003"/>
                </a:moveTo>
                <a:lnTo>
                  <a:pt x="8638773" y="5733003"/>
                </a:lnTo>
                <a:lnTo>
                  <a:pt x="8638773" y="0"/>
                </a:lnTo>
                <a:lnTo>
                  <a:pt x="0" y="0"/>
                </a:lnTo>
                <a:lnTo>
                  <a:pt x="0" y="5733003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168815" y="2927354"/>
            <a:ext cx="8182690" cy="5430330"/>
          </a:xfrm>
          <a:custGeom>
            <a:avLst/>
            <a:gdLst/>
            <a:ahLst/>
            <a:cxnLst/>
            <a:rect r="r" b="b" t="t" l="l"/>
            <a:pathLst>
              <a:path h="5430330" w="8182690">
                <a:moveTo>
                  <a:pt x="8182690" y="0"/>
                </a:moveTo>
                <a:lnTo>
                  <a:pt x="0" y="0"/>
                </a:lnTo>
                <a:lnTo>
                  <a:pt x="0" y="5430331"/>
                </a:lnTo>
                <a:lnTo>
                  <a:pt x="8182690" y="5430331"/>
                </a:lnTo>
                <a:lnTo>
                  <a:pt x="818269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66697" y="394684"/>
            <a:ext cx="4867296" cy="3230114"/>
          </a:xfrm>
          <a:custGeom>
            <a:avLst/>
            <a:gdLst/>
            <a:ahLst/>
            <a:cxnLst/>
            <a:rect r="r" b="b" t="t" l="l"/>
            <a:pathLst>
              <a:path h="3230114" w="4867296">
                <a:moveTo>
                  <a:pt x="0" y="0"/>
                </a:moveTo>
                <a:lnTo>
                  <a:pt x="4867296" y="0"/>
                </a:lnTo>
                <a:lnTo>
                  <a:pt x="4867296" y="3230115"/>
                </a:lnTo>
                <a:lnTo>
                  <a:pt x="0" y="32301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994008" y="7465806"/>
            <a:ext cx="3255742" cy="2160629"/>
          </a:xfrm>
          <a:custGeom>
            <a:avLst/>
            <a:gdLst/>
            <a:ahLst/>
            <a:cxnLst/>
            <a:rect r="r" b="b" t="t" l="l"/>
            <a:pathLst>
              <a:path h="2160629" w="3255742">
                <a:moveTo>
                  <a:pt x="3255742" y="0"/>
                </a:moveTo>
                <a:lnTo>
                  <a:pt x="0" y="0"/>
                </a:lnTo>
                <a:lnTo>
                  <a:pt x="0" y="2160628"/>
                </a:lnTo>
                <a:lnTo>
                  <a:pt x="3255742" y="2160628"/>
                </a:lnTo>
                <a:lnTo>
                  <a:pt x="32557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5262" y="-488243"/>
            <a:ext cx="4653219" cy="3511066"/>
          </a:xfrm>
          <a:custGeom>
            <a:avLst/>
            <a:gdLst/>
            <a:ahLst/>
            <a:cxnLst/>
            <a:rect r="r" b="b" t="t" l="l"/>
            <a:pathLst>
              <a:path h="3511066" w="4653219">
                <a:moveTo>
                  <a:pt x="0" y="0"/>
                </a:moveTo>
                <a:lnTo>
                  <a:pt x="4653220" y="0"/>
                </a:lnTo>
                <a:lnTo>
                  <a:pt x="4653220" y="3511066"/>
                </a:lnTo>
                <a:lnTo>
                  <a:pt x="0" y="3511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3409572" y="6838370"/>
            <a:ext cx="5171931" cy="3902457"/>
          </a:xfrm>
          <a:custGeom>
            <a:avLst/>
            <a:gdLst/>
            <a:ahLst/>
            <a:cxnLst/>
            <a:rect r="r" b="b" t="t" l="l"/>
            <a:pathLst>
              <a:path h="3902457" w="5171931">
                <a:moveTo>
                  <a:pt x="5171930" y="3902456"/>
                </a:moveTo>
                <a:lnTo>
                  <a:pt x="0" y="3902456"/>
                </a:lnTo>
                <a:lnTo>
                  <a:pt x="0" y="0"/>
                </a:lnTo>
                <a:lnTo>
                  <a:pt x="5171930" y="0"/>
                </a:lnTo>
                <a:lnTo>
                  <a:pt x="5171930" y="390245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92817" y="1267290"/>
            <a:ext cx="6581534" cy="1268441"/>
          </a:xfrm>
          <a:custGeom>
            <a:avLst/>
            <a:gdLst/>
            <a:ahLst/>
            <a:cxnLst/>
            <a:rect r="r" b="b" t="t" l="l"/>
            <a:pathLst>
              <a:path h="1268441" w="6581534">
                <a:moveTo>
                  <a:pt x="0" y="0"/>
                </a:moveTo>
                <a:lnTo>
                  <a:pt x="6581534" y="0"/>
                </a:lnTo>
                <a:lnTo>
                  <a:pt x="6581534" y="1268441"/>
                </a:lnTo>
                <a:lnTo>
                  <a:pt x="0" y="12684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86911" y="1677356"/>
            <a:ext cx="5787440" cy="51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8"/>
              </a:lnSpc>
            </a:pPr>
            <a:r>
              <a:rPr lang="en-US" b="true" sz="3699">
                <a:solidFill>
                  <a:srgbClr val="FCFEFF"/>
                </a:solidFill>
                <a:latin typeface="Aileron Bold"/>
                <a:ea typeface="Aileron Bold"/>
                <a:cs typeface="Aileron Bold"/>
                <a:sym typeface="Aileron Bold"/>
              </a:rPr>
              <a:t>Conclusion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38326" y="2475353"/>
            <a:ext cx="5872708" cy="900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43"/>
              </a:lnSpc>
            </a:pPr>
            <a:r>
              <a:rPr lang="en-US" b="true" sz="325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Conclusion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22530" y="3627230"/>
            <a:ext cx="13442959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This project demonstrates an end-to-end analytics pipeli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ne for the mutual fund industry, c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ombining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data engineering, fi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nancial analysis,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business intelligence, 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nd interactive visualization to support informed investment decisions.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9144000" y="1355173"/>
            <a:ext cx="10042068" cy="6664282"/>
          </a:xfrm>
          <a:custGeom>
            <a:avLst/>
            <a:gdLst/>
            <a:ahLst/>
            <a:cxnLst/>
            <a:rect r="r" b="b" t="t" l="l"/>
            <a:pathLst>
              <a:path h="6664282" w="10042068">
                <a:moveTo>
                  <a:pt x="0" y="6664282"/>
                </a:moveTo>
                <a:lnTo>
                  <a:pt x="10042068" y="6664282"/>
                </a:lnTo>
                <a:lnTo>
                  <a:pt x="10042068" y="0"/>
                </a:lnTo>
                <a:lnTo>
                  <a:pt x="0" y="0"/>
                </a:lnTo>
                <a:lnTo>
                  <a:pt x="0" y="6664282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4145" y="0"/>
            <a:ext cx="20409103" cy="1443068"/>
          </a:xfrm>
          <a:custGeom>
            <a:avLst/>
            <a:gdLst/>
            <a:ahLst/>
            <a:cxnLst/>
            <a:rect r="r" b="b" t="t" l="l"/>
            <a:pathLst>
              <a:path h="1443068" w="20409103">
                <a:moveTo>
                  <a:pt x="0" y="0"/>
                </a:moveTo>
                <a:lnTo>
                  <a:pt x="20409103" y="0"/>
                </a:lnTo>
                <a:lnTo>
                  <a:pt x="20409103" y="1443068"/>
                </a:lnTo>
                <a:lnTo>
                  <a:pt x="0" y="1443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898068" y="2179650"/>
            <a:ext cx="10042068" cy="6664282"/>
          </a:xfrm>
          <a:custGeom>
            <a:avLst/>
            <a:gdLst/>
            <a:ahLst/>
            <a:cxnLst/>
            <a:rect r="r" b="b" t="t" l="l"/>
            <a:pathLst>
              <a:path h="6664282" w="10042068">
                <a:moveTo>
                  <a:pt x="10042068" y="0"/>
                </a:moveTo>
                <a:lnTo>
                  <a:pt x="0" y="0"/>
                </a:lnTo>
                <a:lnTo>
                  <a:pt x="0" y="6664282"/>
                </a:lnTo>
                <a:lnTo>
                  <a:pt x="10042068" y="6664282"/>
                </a:lnTo>
                <a:lnTo>
                  <a:pt x="10042068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1748364" y="8843932"/>
            <a:ext cx="20409103" cy="1443068"/>
          </a:xfrm>
          <a:custGeom>
            <a:avLst/>
            <a:gdLst/>
            <a:ahLst/>
            <a:cxnLst/>
            <a:rect r="r" b="b" t="t" l="l"/>
            <a:pathLst>
              <a:path h="1443068" w="20409103">
                <a:moveTo>
                  <a:pt x="20409103" y="1443068"/>
                </a:moveTo>
                <a:lnTo>
                  <a:pt x="0" y="1443068"/>
                </a:lnTo>
                <a:lnTo>
                  <a:pt x="0" y="0"/>
                </a:lnTo>
                <a:lnTo>
                  <a:pt x="20409103" y="0"/>
                </a:lnTo>
                <a:lnTo>
                  <a:pt x="20409103" y="14430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69859" y="5618309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0" y="0"/>
                </a:moveTo>
                <a:lnTo>
                  <a:pt x="5118141" y="0"/>
                </a:lnTo>
                <a:lnTo>
                  <a:pt x="5118141" y="3396585"/>
                </a:lnTo>
                <a:lnTo>
                  <a:pt x="0" y="339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47997" y="3253490"/>
            <a:ext cx="10792006" cy="236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71"/>
              </a:lnSpc>
            </a:pPr>
            <a:r>
              <a:rPr lang="en-US" b="true" sz="16889">
                <a:solidFill>
                  <a:srgbClr val="1F305D"/>
                </a:solidFill>
                <a:latin typeface="Aileron Bold"/>
                <a:ea typeface="Aileron Bold"/>
                <a:cs typeface="Aileron Bold"/>
                <a:sym typeface="Aileron Bold"/>
              </a:rPr>
              <a:t>Thank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06708" y="5184737"/>
            <a:ext cx="3274583" cy="2048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39"/>
              </a:lnSpc>
            </a:pPr>
            <a:r>
              <a:rPr lang="en-US" b="true" sz="14616">
                <a:solidFill>
                  <a:srgbClr val="576179"/>
                </a:solidFill>
                <a:latin typeface="Aileron Bold"/>
                <a:ea typeface="Aileron Bold"/>
                <a:cs typeface="Aileron Bold"/>
                <a:sym typeface="Aileron Bold"/>
              </a:rPr>
              <a:t>You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-1050468" y="1355173"/>
            <a:ext cx="5118141" cy="3396585"/>
          </a:xfrm>
          <a:custGeom>
            <a:avLst/>
            <a:gdLst/>
            <a:ahLst/>
            <a:cxnLst/>
            <a:rect r="r" b="b" t="t" l="l"/>
            <a:pathLst>
              <a:path h="3396585" w="5118141">
                <a:moveTo>
                  <a:pt x="5118141" y="0"/>
                </a:moveTo>
                <a:lnTo>
                  <a:pt x="0" y="0"/>
                </a:lnTo>
                <a:lnTo>
                  <a:pt x="0" y="3396585"/>
                </a:lnTo>
                <a:lnTo>
                  <a:pt x="5118141" y="3396585"/>
                </a:lnTo>
                <a:lnTo>
                  <a:pt x="51181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DAHPLMjLYQI</dc:identifier>
  <dcterms:modified xsi:type="dcterms:W3CDTF">2011-08-01T06:04:30Z</dcterms:modified>
  <cp:revision>1</cp:revision>
  <dc:title>Mutual Fund Analytics</dc:title>
</cp:coreProperties>
</file>